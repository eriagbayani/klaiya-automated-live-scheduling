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203A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3203A"/>
                </a:solidFill>
                <a:latin typeface="Cambria"/>
              </a:rPr>
              <a:t>Audit trail from the live run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Audit entries</c:v>
                </c:pt>
              </c:strCache>
            </c:strRef>
          </c:tx>
          <c:spPr>
            <a:solidFill>
              <a:srgbClr val="2C4A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320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Published</c:v>
                  </c:pt>
                  <c:pt idx="1">
                    <c:v>Availability</c:v>
                  </c:pt>
                  <c:pt idx="2">
                    <c:v>Changed</c:v>
                  </c:pt>
                  <c:pt idx="3">
                    <c:v>Override</c:v>
                  </c:pt>
                  <c:pt idx="4">
                    <c:v>Absence cover</c:v>
                  </c:pt>
                  <c:pt idx="5">
                    <c:v>Draft run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</c:v>
                </c:pt>
                <c:pt idx="1">
                  <c:v>3</c:v>
                </c:pt>
                <c:pt idx="2">
                  <c:v>3</c:v>
                </c:pt>
                <c:pt idx="3">
                  <c:v>2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320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Opening. This is a solution design plus a working prototype - every requirement has been run against live Airtable, Groq and Telegram, not just designed.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four problems in the brief. The point to land: they are not four separate problems, they are four symptoms of one thing - nobody has automated the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CRITICAL SLIDE. Read the caveat aloud, do not skip it. Inviting correction turns this into a working session instead of a pitch someone judges.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thesis of the whole deck. Four decisions, all human today. Everything that follows automates exactly these four.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down the layers. Emphasise the third band - it is highlighted because that is where the actual scheduling decision lives, and it is deliberately plain JavaScript.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likely technical question in the room is "why not just let the AI schedule it?" This slide is the answer. Five properties, the model has none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whether it is too aggressive: yes, deliberately. It self-balances within two to three weeks, and an exponential-decay variant is documented for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every row. Pick three - assignment, fairness, absence - and let them read the rest. Repeat that the before column is assumed.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"measured". The baseline numbers are estimates; these are from a real run. That asymmetry is the difference between a claim and a demonstration.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presenting live, this slide is the map before you switch to the screen recording. Requirement numbers on the right let people follow along.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Unconventional slide - most people hide bugs. Include it. It is the strongest evidence this is running software rather than a diagram. If asked why so many: because it was actually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the Airtable cap unprompted reads as competence, not weakness. Same with the fairness heuristic caveat.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 the inevitable "is this a toy?" question. Honest framing: pilot-grade deployment, production-grade logic.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override line - it reassures the scheduler that automation is not taking their judgement away. Then the ask: confirm the baseline, run a two-week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show this if someone asks how the matching works. Scarcity-first ordering is the non-obvious bit worth mentioning.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Live Scheduling Workflow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48640" y="27889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9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design and working prototype  ·  Klaiya Digital Solution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3291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8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Rainerio Agbayani Jr.  ·  12 August 2026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429768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1C2C4C"/>
          </a:solidFill>
          <a:ln w="12700">
            <a:solidFill>
              <a:srgbClr val="2A3F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4074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5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49011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workflows, 95 nodes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06240" y="429768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1C2C4C"/>
          </a:solidFill>
          <a:ln w="12700">
            <a:solidFill>
              <a:srgbClr val="2A3F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44074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5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/ 9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206240" y="49011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verified live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863840" y="429768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1C2C4C"/>
          </a:solidFill>
          <a:ln w="12700">
            <a:solidFill>
              <a:srgbClr val="2A3F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0" y="440740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5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863840" y="490118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passing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manual scheduling costs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failures, all of them symptoms of the same missing capability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1874520"/>
          </a:xfrm>
          <a:prstGeom prst="roundRect">
            <a:avLst>
              <a:gd name="adj" fmla="val 3415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984248"/>
            <a:ext cx="384048" cy="384048"/>
          </a:xfrm>
          <a:prstGeom prst="ellipse">
            <a:avLst/>
          </a:prstGeom>
          <a:solidFill>
            <a:srgbClr val="E8543F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965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Scheduling conflicts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417320" y="2404872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host booked to two client sessions that overlap. Per-client tabs make cross-brand clashes invisible.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5257800" cy="1874520"/>
          </a:xfrm>
          <a:prstGeom prst="roundRect">
            <a:avLst>
              <a:gd name="adj" fmla="val 3415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64808" y="1984248"/>
            <a:ext cx="384048" cy="384048"/>
          </a:xfrm>
          <a:prstGeom prst="ellipse">
            <a:avLst/>
          </a:prstGeom>
          <a:solidFill>
            <a:srgbClr val="E8543F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1984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0880" y="1965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Incomplete coverage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040880" y="2404872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session reaches air time understaffed, discovered too late to fix.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257800" cy="1874520"/>
          </a:xfrm>
          <a:prstGeom prst="roundRect">
            <a:avLst>
              <a:gd name="adj" fmla="val 3415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4178808"/>
            <a:ext cx="384048" cy="384048"/>
          </a:xfrm>
          <a:prstGeom prst="ellipse">
            <a:avLst/>
          </a:prstGeom>
          <a:solidFill>
            <a:srgbClr val="2C4A7C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4160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Uneven workload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17320" y="4599432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staff absorb the load. Prime-time, high-GMV slots concentrate among a few.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3886200"/>
            <a:ext cx="5257800" cy="1874520"/>
          </a:xfrm>
          <a:prstGeom prst="roundRect">
            <a:avLst>
              <a:gd name="adj" fmla="val 3415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64808" y="4178808"/>
            <a:ext cx="384048" cy="384048"/>
          </a:xfrm>
          <a:prstGeom prst="ellipse">
            <a:avLst/>
          </a:prstGeom>
          <a:solidFill>
            <a:srgbClr val="2C4A7C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40880" y="4160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Last-minute gaps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040880" y="4599432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calls in sick and the coordinator starts a group-chat scramble under time pressure.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starting point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typical mid-size agency setup already covers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FDF0EE"/>
          </a:solidFill>
          <a:ln w="15875">
            <a:solidFill>
              <a:srgbClr val="E854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099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5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 BASELINE — NOT CONFIRMED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97510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3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had no visibility into Klaiya’s current automation, so this models a typical setup: a shared spreadsheet, a reminder bot, and a human doing the actual matching. If any of it is wrong, the gaps change — the solution does not, because it is built against the nine requirements.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3429000" cy="2286000"/>
          </a:xfrm>
          <a:prstGeom prst="roundRect">
            <a:avLst>
              <a:gd name="adj" fmla="val 28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92608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548640" y="37033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covered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40690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overrides — trivially, since a spreadsheet has no controls at all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2788920"/>
            <a:ext cx="3429000" cy="2286000"/>
          </a:xfrm>
          <a:prstGeom prst="roundRect">
            <a:avLst>
              <a:gd name="adj" fmla="val 28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292608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88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297680" y="37033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covered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40690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 · conflict prevention · notifications · publishing · audit trail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2788920"/>
            <a:ext cx="3429000" cy="2286000"/>
          </a:xfrm>
          <a:prstGeom prst="roundRect">
            <a:avLst>
              <a:gd name="adj" fmla="val 28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0" y="292608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5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8046720" y="37033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covered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21040" y="4069080"/>
            <a:ext cx="2880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assignment · fair allocation · absence management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53492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 caveat out loud. Framed as an assumption it invites correction; framed as fact it invites a contradiction you cannot win.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0584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baseline automates communication.</a:t>
            </a:r>
            <a:endParaRPr lang="en-US" sz="32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does not automate decisions.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24688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Reminders and a shared sheet are storage and messaging. Every judgement is still human.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320040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1C2C4C"/>
          </a:solidFill>
          <a:ln w="12700">
            <a:solidFill>
              <a:srgbClr val="1C2C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320040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qualified for this session?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217920" y="320040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5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Coordinator, from memory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91363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1C2C4C"/>
          </a:solidFill>
          <a:ln w="12700">
            <a:solidFill>
              <a:srgbClr val="1C2C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3913632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clash with anything?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17920" y="391363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5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Nobody, reliably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626864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1C2C4C"/>
          </a:solidFill>
          <a:ln w="12700">
            <a:solidFill>
              <a:srgbClr val="1C2C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626864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deserves the next shift?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217920" y="4626864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5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Coordinator, informally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340096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1C2C4C"/>
          </a:solidFill>
          <a:ln w="12700">
            <a:solidFill>
              <a:srgbClr val="1C2C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5340096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covers this absence?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17920" y="5340096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5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person to reply in chat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 — n8n orchestrates, Airtable stores, Groq handles language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10512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and triggers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1762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cron  ·  Hosted availability form  ·  Telegram messages  ·  Scheduler approval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752344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DCE6F5"/>
          </a:solidFill>
          <a:ln w="12700">
            <a:solidFill>
              <a:srgbClr val="DCE6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871216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n8n orchestration — 5 workflows, 95 nodes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23697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weekly draft  ·  B absence cover  ·  C publish &amp; notify  ·  D availability intake  ·  E change watcher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813048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2C4A7C"/>
          </a:solidFill>
          <a:ln w="12700">
            <a:solidFill>
              <a:srgbClr val="2C4A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931920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assignment engine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42976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match  ·  certification  ·  conflict check  ·  fairness ranking  —  no LLM anywhere in this layer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873752"/>
            <a:ext cx="11064240" cy="914400"/>
          </a:xfrm>
          <a:prstGeom prst="roundRect">
            <a:avLst>
              <a:gd name="adj" fmla="val 70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992624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 and delivery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5358384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Airtable, 7 tables  ·  Groq llama-3.3-70b for language only  ·  Telegram, Slack, email  ·  HTML + calendar export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sits inside n8n but is called out separately because it is the part that must never be probabilistic.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AI is — and where it deliberately is not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tasks go to the model. Decisions do not.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3200400"/>
          </a:xfrm>
          <a:prstGeom prst="roundRect">
            <a:avLst>
              <a:gd name="adj" fmla="val 2000"/>
            </a:avLst>
          </a:prstGeom>
          <a:solidFill>
            <a:srgbClr val="FDF0EE"/>
          </a:solidFill>
          <a:ln w="12700">
            <a:solidFill>
              <a:srgbClr val="FDF0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65960"/>
            <a:ext cx="384048" cy="384048"/>
          </a:xfrm>
          <a:prstGeom prst="ellipse">
            <a:avLst/>
          </a:prstGeom>
          <a:solidFill>
            <a:srgbClr val="E8543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63040" y="19751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Groq  ·  llama-3.3-70b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56032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3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free-text availability into dated rows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3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absence messages from Telegram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3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personalised shift notifications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3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coverage gaps for the scheduler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49240" cy="3200400"/>
          </a:xfrm>
          <a:prstGeom prst="roundRect">
            <a:avLst>
              <a:gd name="adj" fmla="val 2000"/>
            </a:avLst>
          </a:prstGeom>
          <a:solidFill>
            <a:srgbClr val="E8EFF9"/>
          </a:solidFill>
          <a:ln w="12700">
            <a:solidFill>
              <a:srgbClr val="E8EF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1965960"/>
            <a:ext cx="384048" cy="384048"/>
          </a:xfrm>
          <a:prstGeom prst="ellipse">
            <a:avLst/>
          </a:prstGeom>
          <a:solidFill>
            <a:srgbClr val="2C4A7C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965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78040" y="197510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code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75120" y="256032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role and client certification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time overlap, with a 30-minute buffer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fairness and rank candidates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3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who gets the shift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120640"/>
            <a:ext cx="11064240" cy="1005840"/>
          </a:xfrm>
          <a:prstGeom prst="roundRect">
            <a:avLst>
              <a:gd name="adj" fmla="val 6364"/>
            </a:avLst>
          </a:prstGeom>
          <a:solidFill>
            <a:srgbClr val="13203A"/>
          </a:solidFill>
          <a:ln w="12700">
            <a:solidFill>
              <a:srgbClr val="1320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230368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assignment must be exact, reproducible, instant, free and defensible when a host asks why they got three shifts and someone else got six. A language model is none of those five. Every AI call also has a static-template fallback — an outage degrades wording, never the schedule.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 is not a shift count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Tuesday 2pm Tier-C session and a Friday 8pm Tier-A session are not the same shift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103120"/>
          </a:xfrm>
          <a:prstGeom prst="roundRect">
            <a:avLst>
              <a:gd name="adj" fmla="val 304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weight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4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1.0  ×  prime time 18:00–22:00 (1.5)  ×  brand tier (A 1.4 · B 1.2 · C 1.0)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1.0 to 2.1. Prime-time, high-GMV sessions carry more visibility and more incentive upside — so they count for more.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49240" cy="2103120"/>
          </a:xfrm>
          <a:prstGeom prst="roundRect">
            <a:avLst>
              <a:gd name="adj" fmla="val 3043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18288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Fairness score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0" y="2194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4A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(weighted load + 1) ÷ (slots they were available for + 1)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583680" y="2651760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score gets the next shift. Dividing by availability rewards people who make themselves available, without punishing part-timers for having less capacity.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11064240" cy="1691640"/>
          </a:xfrm>
          <a:prstGeom prst="roundRect">
            <a:avLst>
              <a:gd name="adj" fmla="val 378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160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 on the test dataset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45262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staff carried three weeks of heavy prior load. In the next week the engine gave them 2.1 weighted points against 36.3 for everyone else — a hard, visible correction that self-balances over two to three weeks.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80960" y="41148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5B6B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7680960" y="49194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 overloaded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0" y="41148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5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36.3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9601200" y="49194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else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and after, against all nine requirements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"before" column describes the assumed baseline, not a confirmed current system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377440"/>
                <a:gridCol w="3840480"/>
                <a:gridCol w="438912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 (assumed)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 (built and verified)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4A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input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messages retyped by hand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5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and Telegram → AI-parsed into dated rows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4A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assignment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manual, hours per week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5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full week drafted in under 60 seconds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4A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 prevention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Misses cross-client overlaps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5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double-bookings, structurally impossible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4A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 allocation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shift count at best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5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by prime time and brand tier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4A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overrides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Uncontrolled — edit any cell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5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Draft → review → approve → publish, edits audited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4A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broadcast, silent on change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5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person, per channel, fires on change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4A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Absence management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chat, first responder wins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5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Qualified, available, fairest replacement, auto-assigned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4A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and publish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live, mutable sheet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5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view + HTML snapshot + calendar feed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C4A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trail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history, no reason recorded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5C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changed what, when and why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Measured, not projected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below come from an actual run against live Airtable, Groq and Telegram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4505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to fill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337560" y="16459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337560" y="24505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automatically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26480" y="16459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88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126480" y="24505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gaps, each explained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915400" y="16459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5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&lt;60s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915400" y="245059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draft a full week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5394960" cy="2651760"/>
          </a:xfrm>
          <a:prstGeom prst="roundRect">
            <a:avLst>
              <a:gd name="adj" fmla="val 2414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337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 gaps are a feature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370332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were the same AuraTech Live Admin slot, and the engine reported exactly why: ten staff not certified for that client, five in the wrong role. It names the constraint instead of reporting a blank.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 that explains its own gaps is more useful than one that hides them.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309360" y="3200400"/>
          <a:ext cx="530352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distinct actors appear in that log — three workflows and two named humans. That distinction is the audit-trail requirement in a single screenshot.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demonstration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nine requirements, in the order the work actually happens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EEF2F8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737360"/>
            <a:ext cx="384048" cy="384048"/>
          </a:xfrm>
          <a:prstGeom prst="ellipse">
            <a:avLst/>
          </a:prstGeom>
          <a:solidFill>
            <a:srgbClr val="2C4A7C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61872" y="164592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host submits availability in plain English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806440" y="164592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into dated rows. "Not available Friday" is correctly excluded.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744200" y="164592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304288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2395728"/>
            <a:ext cx="384048" cy="384048"/>
          </a:xfrm>
          <a:prstGeom prst="ellipse">
            <a:avLst/>
          </a:prstGeom>
          <a:solidFill>
            <a:srgbClr val="2C4A7C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61872" y="230428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weekly draft runs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806440" y="230428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Qualification, conflicts and fairness in one pass. Coverage stats and a gap report.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44200" y="230428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3 · 4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962656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EEF2F8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3054096"/>
            <a:ext cx="384048" cy="384048"/>
          </a:xfrm>
          <a:prstGeom prst="ellipse">
            <a:avLst/>
          </a:prstGeom>
          <a:solidFill>
            <a:srgbClr val="2C4A7C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054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61872" y="296265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scheduler reviews and approves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806440" y="296265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reaches staff until a human ticks Approved.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744200" y="2962656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621024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712464"/>
            <a:ext cx="384048" cy="384048"/>
          </a:xfrm>
          <a:prstGeom prst="ellipse">
            <a:avLst/>
          </a:prstGeom>
          <a:solidFill>
            <a:srgbClr val="2C4A7C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" y="37124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61872" y="3621024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Publishing notifies each person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806440" y="3621024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Per-person, on their own channel, written by the model.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744200" y="3621024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279392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EEF2F8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" y="4370832"/>
            <a:ext cx="384048" cy="384048"/>
          </a:xfrm>
          <a:prstGeom prst="ellipse">
            <a:avLst/>
          </a:prstGeom>
          <a:solidFill>
            <a:srgbClr val="2C4A7C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" y="4370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61872" y="427939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host reports an absence by message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806440" y="4279392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found on the same fairness rules and contacted automatically.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744200" y="4279392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493776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3232" y="5029200"/>
            <a:ext cx="384048" cy="384048"/>
          </a:xfrm>
          <a:prstGeom prst="ellipse">
            <a:avLst/>
          </a:prstGeom>
          <a:solidFill>
            <a:srgbClr val="2C4A7C"/>
          </a:solidFill>
          <a:ln/>
        </p:spPr>
      </p:sp>
      <p:sp>
        <p:nvSpPr>
          <p:cNvPr id="36" name="Text 34"/>
          <p:cNvSpPr/>
          <p:nvPr/>
        </p:nvSpPr>
        <p:spPr>
          <a:xfrm>
            <a:off x="713232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261872" y="493776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schedule exports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806440" y="4937760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view, HTML snapshot, and a calendar file that imports anywhere.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744200" y="4937760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5596128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EEF2F8"/>
          </a:solidFill>
          <a:ln w="12700">
            <a:solidFill>
              <a:srgbClr val="E2E8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3232" y="5687568"/>
            <a:ext cx="384048" cy="384048"/>
          </a:xfrm>
          <a:prstGeom prst="ellipse">
            <a:avLst/>
          </a:prstGeom>
          <a:solidFill>
            <a:srgbClr val="2C4A7C"/>
          </a:solidFill>
          <a:ln/>
        </p:spPr>
      </p:sp>
      <p:sp>
        <p:nvSpPr>
          <p:cNvPr id="42" name="Text 40"/>
          <p:cNvSpPr/>
          <p:nvPr/>
        </p:nvSpPr>
        <p:spPr>
          <a:xfrm>
            <a:off x="713232" y="5687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261872" y="559612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 log shows every step above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5806440" y="559612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did what, when, and why — including the human edits.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744200" y="5596128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5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six minutes end to end.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Eleven defects found by running it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them failed silently — the workflow reported success and did nothing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1C2C4C"/>
          </a:solidFill>
          <a:ln w="12700">
            <a:solidFill>
              <a:srgbClr val="1C2C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6537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query returning zero rows halted the entire chain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16712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error. The weekly draft simply stopped and reported success.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1C2C4C"/>
          </a:solidFill>
          <a:ln w="12700">
            <a:solidFill>
              <a:srgbClr val="1C2C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73405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 fields cannot be compared in Airtable filters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03580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workflows returned nothing, forever, without complaint.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1C2C4C"/>
          </a:solidFill>
          <a:ln w="12700">
            <a:solidFill>
              <a:srgbClr val="1C2C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60273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credential was misconfigured for days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390448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quietly used its fallback template. The system "worked" throughout.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389120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1C2C4C"/>
          </a:solidFill>
          <a:ln w="12700">
            <a:solidFill>
              <a:srgbClr val="1C2C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47141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Exports were being base64-decoded, not encoded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477316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binary garbage that still downloaded as a valid-looking file.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257800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1C2C4C"/>
          </a:solidFill>
          <a:ln w="12700">
            <a:solidFill>
              <a:srgbClr val="1C2C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5340096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detection could never fire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564184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D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discards in-memory state on manual runs and on restart.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5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thread: n8n features that depend on live editor state do not survive a JSON import. The design now avoids that machinery or handles both cases, and 41 automated tests cover every fix.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Risks, and what happens when they occur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failure mode has a defined path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280160"/>
                <a:gridCol w="65836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Likelihood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the design handles 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service down or rate-limited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call has a static-template fallback. Schedules still generate; wording gets plainer.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absence message is misread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Below 0.7 confidence it asks for clarification instead of acting.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qualified replacement exists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Escalates with nearest-miss candidates and the one constraint each failed.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never submit availability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They become ineligible and appear in the gap report by name, not silently.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Airtable free-tier record cap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Certain, ~4 months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archiving, or a paid tier. Flagged now rather than discovered later.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3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engine produces a legal but unpopular schedule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5B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B6B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approval gate exists for exactly this. Fairness is a heuristic, not a verdict.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is, and what production would need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five workflow files run unchanged on production infrastructure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3657600"/>
          </a:xfrm>
          <a:prstGeom prst="roundRect">
            <a:avLst>
              <a:gd name="adj" fmla="val 1750"/>
            </a:avLst>
          </a:prstGeom>
          <a:solidFill>
            <a:srgbClr val="E9F5EF"/>
          </a:solidFill>
          <a:ln w="12700">
            <a:solidFill>
              <a:srgbClr val="E9F5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9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— built and running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37744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on a laptop, free tier throughout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Airtable free plan, 1,000 records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Telegram bot, tunnel for webhooks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requirements demonstrated end to end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automated tests over the core logic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257800" cy="3657600"/>
          </a:xfrm>
          <a:prstGeom prst="roundRect">
            <a:avLst>
              <a:gd name="adj" fmla="val 175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4A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— what it takes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29400" y="2377440"/>
            <a:ext cx="4480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VPS or n8n Cloud, roughly $6/month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Airtable tier, or quarterly archiving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domain and HTTPS, no tunnel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store, rotated tokens, failure alerts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3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Two-way calendar sync and reply confirmations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55778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needs rewriting to scale. It needs hosting and a paid data tier.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engine proposes.</a:t>
            </a:r>
            <a:endParaRPr lang="en-US" sz="3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scheduler disposes.</a:t>
            </a:r>
            <a:endParaRPr lang="en-US" sz="3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 remembers which.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384048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1C2C4C"/>
          </a:solidFill>
          <a:ln w="12700">
            <a:solidFill>
              <a:srgbClr val="2A3F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39776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77240" y="440740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weekly scheduling replaced by one 60-second run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206240" y="384048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1C2C4C"/>
          </a:solidFill>
          <a:ln w="12700">
            <a:solidFill>
              <a:srgbClr val="2A3F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4840" y="39776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434840" y="440740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double-bookings — structurally prevented, not caught later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863840" y="384048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1C2C4C"/>
          </a:solidFill>
          <a:ln w="12700">
            <a:solidFill>
              <a:srgbClr val="2A3F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39776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54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change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092440" y="440740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attributed to a person or a workflow, with a reason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56692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confirm the real current-state baseline, then a two-week pilot on one client brand.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— how the engine decides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hard constraints, then three ranking rules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3931920"/>
          </a:xfrm>
          <a:prstGeom prst="roundRect">
            <a:avLst>
              <a:gd name="adj" fmla="val 1628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745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 constraints — fail any, excluded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28600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on the roster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matches the slot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for that client brand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covers the full session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absence logged for that window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clash with another booking, +30 min buffer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their weekly cap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already on the same session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349240" cy="1828800"/>
          </a:xfrm>
          <a:prstGeom prst="roundRect">
            <a:avLst>
              <a:gd name="adj" fmla="val 3500"/>
            </a:avLst>
          </a:prstGeom>
          <a:solidFill>
            <a:srgbClr val="EEF2F8"/>
          </a:solidFill>
          <a:ln w="12700">
            <a:solidFill>
              <a:srgbClr val="EEF2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8745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— order the survivors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720840" y="22860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fairness score first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longest since their last shift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a stable hash — so reruns are identical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3794760"/>
            <a:ext cx="5349240" cy="1828800"/>
          </a:xfrm>
          <a:prstGeom prst="roundRect">
            <a:avLst>
              <a:gd name="adj" fmla="val 3500"/>
            </a:avLst>
          </a:prstGeom>
          <a:solidFill>
            <a:srgbClr val="13203A"/>
          </a:solidFill>
          <a:ln w="12700">
            <a:solidFill>
              <a:srgbClr val="1320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3977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Scarcity first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29400" y="434340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B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are filled hardest-first, not chronologically. Filling a session with twelve eligible hosts before one with two can strand the scarce session with nobody left. This single ordering choice is the difference between 94% and 100% coverage, and it costs nothing.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Klaiya — Automated Live Scheduling Workflow</dc:title>
  <dc:subject>PptxGenJS Presentation</dc:subject>
  <dc:creator>Rainerio Agbayani Jr.</dc:creator>
  <cp:lastModifiedBy>Rainerio Agbayani Jr.</cp:lastModifiedBy>
  <cp:revision>1</cp:revision>
  <dcterms:created xsi:type="dcterms:W3CDTF">2026-08-09T15:43:46Z</dcterms:created>
  <dcterms:modified xsi:type="dcterms:W3CDTF">2026-08-09T15:43:46Z</dcterms:modified>
</cp:coreProperties>
</file>